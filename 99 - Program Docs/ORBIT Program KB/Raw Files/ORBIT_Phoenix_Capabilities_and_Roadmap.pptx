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91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E00486-ED41-4EE7-82A9-A7E9BC2745D2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C04158-8EB7-4A0A-9088-419A50145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408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22222"/>
                </a:solidFill>
                <a:latin typeface="Calibri"/>
              </a:defRPr>
            </a:pPr>
            <a:r>
              <a:rPr lang="en-US" dirty="0"/>
              <a:t>Phoenix Chatbot (primary UI): run ORBIT and view the Daily People Pulse + focus areas.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22222"/>
                </a:solidFill>
                <a:latin typeface="Calibri"/>
              </a:defRPr>
            </a:pPr>
            <a:r>
              <a:rPr lang="en-US" dirty="0"/>
              <a:t>Slack access: share narratives and key lists quickly with leaders and HR partners.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22222"/>
                </a:solidFill>
                <a:latin typeface="Calibri"/>
              </a:defRPr>
            </a:pPr>
            <a:r>
              <a:rPr lang="en-US" dirty="0"/>
              <a:t>Scheduled emails: daily/weekly digests (People Pulse + summaries) to targeted audiences.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22222"/>
                </a:solidFill>
                <a:latin typeface="Calibri"/>
              </a:defRPr>
            </a:pPr>
            <a:r>
              <a:rPr lang="en-US" dirty="0"/>
              <a:t>Consistent templates: email-ready narratives and “Recommendations to consider” with SOP links.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22222"/>
                </a:solidFill>
                <a:latin typeface="Calibri"/>
              </a:defRPr>
            </a:pPr>
            <a:r>
              <a:rPr lang="en-US" dirty="0"/>
              <a:t>Governance-by-design: human-in-the-loop; systems of record stay authoritative.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C04158-8EB7-4A0A-9088-419A5014598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3571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4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ORBIT in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43891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1F0FF"/>
                </a:solidFill>
                <a:latin typeface="Calibri"/>
              </a:defRPr>
            </a:pPr>
            <a:r>
              <a:rPr dirty="0"/>
              <a:t>Capabilities • Roadmap alignment (internal)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498079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4C99"/>
                </a:solidFill>
                <a:latin typeface="Calibri"/>
              </a:defRPr>
            </a:pPr>
            <a:r>
              <a:t>Align on the ORBIT roadmap</a:t>
            </a:r>
          </a:p>
          <a:p>
            <a:pPr>
              <a:defRPr sz="2800" b="1">
                <a:solidFill>
                  <a:srgbClr val="004C99"/>
                </a:solidFill>
                <a:latin typeface="Calibri"/>
              </a:defRPr>
            </a:pPr>
            <a:r>
              <a:t>and how we’ll deliver it in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04228"/>
            <a:ext cx="4848250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rPr dirty="0"/>
              <a:t>Purpose: align on the dedicated roadmap (what, why, priority).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rPr dirty="0"/>
              <a:t>Audience: HR</a:t>
            </a:r>
            <a:r>
              <a:rPr lang="en-US" dirty="0"/>
              <a:t>T</a:t>
            </a:r>
            <a:r>
              <a:rPr dirty="0"/>
              <a:t>; demo will show how ORBIT operates in Phoenix.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rPr dirty="0"/>
              <a:t>Output: prioritized backlog + owners + next decisions.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4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How ORBIT is delivered in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1F0FF"/>
                </a:solidFill>
                <a:latin typeface="Calibri"/>
              </a:defRPr>
            </a:pPr>
            <a:r>
              <a:t>Chatbot • Slack access • Scheduled emails</a:t>
            </a:r>
          </a:p>
        </p:txBody>
      </p:sp>
      <p:pic>
        <p:nvPicPr>
          <p:cNvPr id="6" name="Picture 5" descr="91c9cff7-e69a-4d47-b0ed-cd1fd3862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739" y="738150"/>
            <a:ext cx="9115721" cy="606402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4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94316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ORBIT Demo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22525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rPr lang="en-US" sz="2400" b="1" dirty="0">
                <a:solidFill>
                  <a:srgbClr val="222222"/>
                </a:solidFill>
                <a:latin typeface="Calibri"/>
              </a:rPr>
              <a:t>Top 3 main ways to interact with ORBIT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  <a:defRPr sz="1600">
                <a:solidFill>
                  <a:srgbClr val="222222"/>
                </a:solidFill>
                <a:latin typeface="Calibri"/>
              </a:defRPr>
            </a:pPr>
            <a:r>
              <a:rPr lang="en-US" sz="2400" dirty="0"/>
              <a:t>Phoenix ORBIT Agent (primary UI)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  <a:defRPr sz="1600">
                <a:solidFill>
                  <a:srgbClr val="222222"/>
                </a:solidFill>
                <a:latin typeface="Calibri"/>
              </a:defRPr>
            </a:pPr>
            <a:r>
              <a:rPr lang="en-US" sz="2400" dirty="0"/>
              <a:t>Slack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  <a:defRPr sz="1600">
                <a:solidFill>
                  <a:srgbClr val="222222"/>
                </a:solidFill>
                <a:latin typeface="Calibri"/>
              </a:defRPr>
            </a:pPr>
            <a:r>
              <a:rPr lang="en-US" sz="2400" dirty="0"/>
              <a:t>Scheduled emails: daily/weekly digests 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4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Prioritized roadmap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1F0FF"/>
                </a:solidFill>
                <a:latin typeface="Calibri"/>
              </a:defRPr>
            </a:pPr>
            <a:r>
              <a:t>High-level view (what we build next)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411480"/>
          </a:xfrm>
          <a:prstGeom prst="rect">
            <a:avLst/>
          </a:prstGeom>
          <a:solidFill>
            <a:srgbClr val="F0F5FA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ctr">
              <a:defRPr sz="1200" b="1">
                <a:solidFill>
                  <a:srgbClr val="142846"/>
                </a:solidFill>
                <a:latin typeface="Calibri"/>
              </a:defRPr>
            </a:pPr>
            <a:r>
              <a:t>#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1143000"/>
            <a:ext cx="3017520" cy="411480"/>
          </a:xfrm>
          <a:prstGeom prst="rect">
            <a:avLst/>
          </a:prstGeom>
          <a:solidFill>
            <a:srgbClr val="F0F5FA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ctr">
              <a:defRPr sz="1200" b="1">
                <a:solidFill>
                  <a:srgbClr val="142846"/>
                </a:solidFill>
                <a:latin typeface="Calibri"/>
              </a:defRPr>
            </a:pPr>
            <a:r>
              <a:t>Product / Area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143000"/>
            <a:ext cx="1828800" cy="411480"/>
          </a:xfrm>
          <a:prstGeom prst="rect">
            <a:avLst/>
          </a:prstGeom>
          <a:solidFill>
            <a:srgbClr val="F0F5FA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ctr">
              <a:defRPr sz="1200" b="1">
                <a:solidFill>
                  <a:srgbClr val="142846"/>
                </a:solidFill>
                <a:latin typeface="Calibri"/>
              </a:defRPr>
            </a:pPr>
            <a:r>
              <a:t>Primary users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143000"/>
            <a:ext cx="3840480" cy="411480"/>
          </a:xfrm>
          <a:prstGeom prst="rect">
            <a:avLst/>
          </a:prstGeom>
          <a:solidFill>
            <a:srgbClr val="F0F5FA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ctr">
              <a:defRPr sz="1200" b="1">
                <a:solidFill>
                  <a:srgbClr val="142846"/>
                </a:solidFill>
                <a:latin typeface="Calibri"/>
              </a:defRPr>
            </a:pPr>
            <a:r>
              <a:t>Primary focus / signals</a:t>
            </a:r>
          </a:p>
        </p:txBody>
      </p:sp>
      <p:sp>
        <p:nvSpPr>
          <p:cNvPr id="9" name="Rectangle 8"/>
          <p:cNvSpPr/>
          <p:nvPr/>
        </p:nvSpPr>
        <p:spPr>
          <a:xfrm>
            <a:off x="9784080" y="1143000"/>
            <a:ext cx="1920240" cy="411480"/>
          </a:xfrm>
          <a:prstGeom prst="rect">
            <a:avLst/>
          </a:prstGeom>
          <a:solidFill>
            <a:srgbClr val="F0F5FA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ctr">
              <a:defRPr sz="1200" b="1">
                <a:solidFill>
                  <a:srgbClr val="142846"/>
                </a:solidFill>
                <a:latin typeface="Calibri"/>
              </a:defRPr>
            </a:pPr>
            <a:r>
              <a:t>Delivery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554480"/>
            <a:ext cx="548640" cy="310896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1554480"/>
            <a:ext cx="3017520" cy="310896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Daily People Pulse (DPP)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554480"/>
            <a:ext cx="18288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Local HR, Ops Leads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554480"/>
            <a:ext cx="3840480" cy="310896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Daily attendance, recognition, staffing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84080" y="1554480"/>
            <a:ext cx="1920240" cy="310896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Workflow + some AI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865376"/>
            <a:ext cx="548640" cy="310896"/>
          </a:xfrm>
          <a:prstGeom prst="rect">
            <a:avLst/>
          </a:prstGeom>
          <a:solidFill>
            <a:srgbClr val="F8FAFC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1865376"/>
            <a:ext cx="3017520" cy="310896"/>
          </a:xfrm>
          <a:prstGeom prst="rect">
            <a:avLst/>
          </a:prstGeom>
          <a:solidFill>
            <a:srgbClr val="F8FAFC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TMDM Paycode Reconciler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1865376"/>
            <a:ext cx="1828800" cy="310896"/>
          </a:xfrm>
          <a:prstGeom prst="rect">
            <a:avLst/>
          </a:prstGeom>
          <a:solidFill>
            <a:srgbClr val="F8FAFC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HR, Payroll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1865376"/>
            <a:ext cx="3840480" cy="310896"/>
          </a:xfrm>
          <a:prstGeom prst="rect">
            <a:avLst/>
          </a:prstGeom>
          <a:solidFill>
            <a:srgbClr val="F8FAFC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Paycode mismatches &amp; pay risk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84080" y="1865376"/>
            <a:ext cx="1920240" cy="310896"/>
          </a:xfrm>
          <a:prstGeom prst="rect">
            <a:avLst/>
          </a:prstGeom>
          <a:solidFill>
            <a:srgbClr val="F8FAFC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Workflow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176272"/>
            <a:ext cx="548640" cy="310896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" y="2176272"/>
            <a:ext cx="3017520" cy="310896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ORBIT Workload Lens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2176272"/>
            <a:ext cx="18288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HR Leadership, Local HR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2176272"/>
            <a:ext cx="3840480" cy="310896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Where HR time goes; ORBIT impact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84080" y="2176272"/>
            <a:ext cx="1920240" cy="310896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Workflow + some AI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487168"/>
            <a:ext cx="548640" cy="310896"/>
          </a:xfrm>
          <a:prstGeom prst="rect">
            <a:avLst/>
          </a:prstGeom>
          <a:solidFill>
            <a:srgbClr val="F8FAFC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7280" y="2487168"/>
            <a:ext cx="3017520" cy="310896"/>
          </a:xfrm>
          <a:prstGeom prst="rect">
            <a:avLst/>
          </a:prstGeom>
          <a:solidFill>
            <a:srgbClr val="F8FAFC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CAT Insights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2487168"/>
            <a:ext cx="1828800" cy="310896"/>
          </a:xfrm>
          <a:prstGeom prst="rect">
            <a:avLst/>
          </a:prstGeom>
          <a:solidFill>
            <a:srgbClr val="F8FAFC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CAT, HR, Ops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2487168"/>
            <a:ext cx="3840480" cy="310896"/>
          </a:xfrm>
          <a:prstGeom prst="rect">
            <a:avLst/>
          </a:prstGeom>
          <a:solidFill>
            <a:srgbClr val="F8FAFC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Patterns, hotspots, alerts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84080" y="2487168"/>
            <a:ext cx="1920240" cy="310896"/>
          </a:xfrm>
          <a:prstGeom prst="rect">
            <a:avLst/>
          </a:prstGeom>
          <a:solidFill>
            <a:srgbClr val="F8FAFC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Workflow + some AI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2798064"/>
            <a:ext cx="548640" cy="310896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97280" y="2798064"/>
            <a:ext cx="3017520" cy="310896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VOC Insights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0" y="2798064"/>
            <a:ext cx="18288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HR, Ops, CX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2798064"/>
            <a:ext cx="3840480" cy="310896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Themes from VOC → action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784080" y="2798064"/>
            <a:ext cx="1920240" cy="310896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AI + Workflow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108960"/>
            <a:ext cx="548640" cy="310896"/>
          </a:xfrm>
          <a:prstGeom prst="rect">
            <a:avLst/>
          </a:prstGeom>
          <a:solidFill>
            <a:srgbClr val="F8FAFC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97280" y="3108960"/>
            <a:ext cx="3017520" cy="310896"/>
          </a:xfrm>
          <a:prstGeom prst="rect">
            <a:avLst/>
          </a:prstGeom>
          <a:solidFill>
            <a:srgbClr val="F8FAFC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Timesheet Approvals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0" y="3108960"/>
            <a:ext cx="1828800" cy="310896"/>
          </a:xfrm>
          <a:prstGeom prst="rect">
            <a:avLst/>
          </a:prstGeom>
          <a:solidFill>
            <a:srgbClr val="F8FAFC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HR, Managers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0" y="3108960"/>
            <a:ext cx="3840480" cy="310896"/>
          </a:xfrm>
          <a:prstGeom prst="rect">
            <a:avLst/>
          </a:prstGeom>
          <a:solidFill>
            <a:srgbClr val="F8FAFC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At-risk approvals before deadlines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84080" y="3108960"/>
            <a:ext cx="1920240" cy="310896"/>
          </a:xfrm>
          <a:prstGeom prst="rect">
            <a:avLst/>
          </a:prstGeom>
          <a:solidFill>
            <a:srgbClr val="F8FAFC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Workflow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3419856"/>
            <a:ext cx="548640" cy="310896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97280" y="3419856"/>
            <a:ext cx="3017520" cy="310896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LOA Pulse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0" y="3419856"/>
            <a:ext cx="18288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HR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0" y="3419856"/>
            <a:ext cx="3840480" cy="310896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RTW completion &amp; gaps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784080" y="3419856"/>
            <a:ext cx="1920240" cy="310896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Workflow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3730752"/>
            <a:ext cx="548640" cy="310896"/>
          </a:xfrm>
          <a:prstGeom prst="rect">
            <a:avLst/>
          </a:prstGeom>
          <a:solidFill>
            <a:srgbClr val="F8FAFC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97280" y="3730752"/>
            <a:ext cx="3017520" cy="310896"/>
          </a:xfrm>
          <a:prstGeom prst="rect">
            <a:avLst/>
          </a:prstGeom>
          <a:solidFill>
            <a:srgbClr val="F8FAFC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Bubble Report Generator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0" y="3730752"/>
            <a:ext cx="1828800" cy="310896"/>
          </a:xfrm>
          <a:prstGeom prst="rect">
            <a:avLst/>
          </a:prstGeom>
          <a:solidFill>
            <a:srgbClr val="F8FAFC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HR, Ops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3730752"/>
            <a:ext cx="3840480" cy="310896"/>
          </a:xfrm>
          <a:prstGeom prst="rect">
            <a:avLst/>
          </a:prstGeom>
          <a:solidFill>
            <a:srgbClr val="F8FAFC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Department health &amp; risk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784080" y="3730752"/>
            <a:ext cx="1920240" cy="310896"/>
          </a:xfrm>
          <a:prstGeom prst="rect">
            <a:avLst/>
          </a:prstGeom>
          <a:solidFill>
            <a:srgbClr val="F8FAFC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Workflow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4041648"/>
            <a:ext cx="548640" cy="310896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97280" y="4041648"/>
            <a:ext cx="3017520" cy="310896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ECHO Pulse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0" y="4041648"/>
            <a:ext cx="18288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HR, Site Leadership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43600" y="4041648"/>
            <a:ext cx="3840480" cy="310896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ECHO outcomes → actions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784080" y="4041648"/>
            <a:ext cx="1920240" cy="310896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AI + Workflow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4352544"/>
            <a:ext cx="548640" cy="310896"/>
          </a:xfrm>
          <a:prstGeom prst="rect">
            <a:avLst/>
          </a:prstGeom>
          <a:solidFill>
            <a:srgbClr val="F8FAFC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97280" y="4352544"/>
            <a:ext cx="3017520" cy="310896"/>
          </a:xfrm>
          <a:prstGeom prst="rect">
            <a:avLst/>
          </a:prstGeom>
          <a:solidFill>
            <a:srgbClr val="F8FAFC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General Announcements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0" y="4352544"/>
            <a:ext cx="1828800" cy="310896"/>
          </a:xfrm>
          <a:prstGeom prst="rect">
            <a:avLst/>
          </a:prstGeom>
          <a:solidFill>
            <a:srgbClr val="F8FAFC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HR, Ops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43600" y="4352544"/>
            <a:ext cx="3840480" cy="310896"/>
          </a:xfrm>
          <a:prstGeom prst="rect">
            <a:avLst/>
          </a:prstGeom>
          <a:solidFill>
            <a:srgbClr val="F8FAFC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Targeted announcements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84080" y="4352544"/>
            <a:ext cx="1920240" cy="310896"/>
          </a:xfrm>
          <a:prstGeom prst="rect">
            <a:avLst/>
          </a:prstGeom>
          <a:solidFill>
            <a:srgbClr val="F8FAFC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Workflow + some AI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" y="4663440"/>
            <a:ext cx="548640" cy="310896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97280" y="4663440"/>
            <a:ext cx="3017520" cy="310896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Smart VET/VTO Automation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114800" y="4663440"/>
            <a:ext cx="18288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HR, Ops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943600" y="4663440"/>
            <a:ext cx="3840480" cy="310896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VET/VTO guidance + SLA impact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784080" y="4663440"/>
            <a:ext cx="1920240" cy="310896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Workflow + some AI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8640" y="4974336"/>
            <a:ext cx="548640" cy="310896"/>
          </a:xfrm>
          <a:prstGeom prst="rect">
            <a:avLst/>
          </a:prstGeom>
          <a:solidFill>
            <a:srgbClr val="F8FAFC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97280" y="4974336"/>
            <a:ext cx="3017520" cy="310896"/>
          </a:xfrm>
          <a:prstGeom prst="rect">
            <a:avLst/>
          </a:prstGeom>
          <a:solidFill>
            <a:srgbClr val="F8FAFC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FMLA Hours Audit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14800" y="4974336"/>
            <a:ext cx="1828800" cy="310896"/>
          </a:xfrm>
          <a:prstGeom prst="rect">
            <a:avLst/>
          </a:prstGeom>
          <a:solidFill>
            <a:srgbClr val="F8FAFC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HR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943600" y="4974336"/>
            <a:ext cx="3840480" cy="310896"/>
          </a:xfrm>
          <a:prstGeom prst="rect">
            <a:avLst/>
          </a:prstGeom>
          <a:solidFill>
            <a:srgbClr val="F8FAFC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FMLA compliance audit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784080" y="4974336"/>
            <a:ext cx="1920240" cy="310896"/>
          </a:xfrm>
          <a:prstGeom prst="rect">
            <a:avLst/>
          </a:prstGeom>
          <a:solidFill>
            <a:srgbClr val="F8FAFC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Workflow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8640" y="5285232"/>
            <a:ext cx="548640" cy="310896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97280" y="5285232"/>
            <a:ext cx="3017520" cy="310896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BRT Scheduling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14800" y="5285232"/>
            <a:ext cx="18288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HR, Ops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943600" y="5285232"/>
            <a:ext cx="3840480" cy="310896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Scheduling recommendations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784080" y="5285232"/>
            <a:ext cx="1920240" cy="310896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Workflow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48640" y="5596128"/>
            <a:ext cx="548640" cy="310896"/>
          </a:xfrm>
          <a:prstGeom prst="rect">
            <a:avLst/>
          </a:prstGeom>
          <a:solidFill>
            <a:srgbClr val="F8FAFC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97280" y="5596128"/>
            <a:ext cx="3017520" cy="310896"/>
          </a:xfrm>
          <a:prstGeom prst="rect">
            <a:avLst/>
          </a:prstGeom>
          <a:solidFill>
            <a:srgbClr val="F8FAFC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1:1 Completion &amp; Quality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114800" y="5596128"/>
            <a:ext cx="1828800" cy="310896"/>
          </a:xfrm>
          <a:prstGeom prst="rect">
            <a:avLst/>
          </a:prstGeom>
          <a:solidFill>
            <a:srgbClr val="F8FAFC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HR, Ops Leaders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943600" y="5596128"/>
            <a:ext cx="3840480" cy="310896"/>
          </a:xfrm>
          <a:prstGeom prst="rect">
            <a:avLst/>
          </a:prstGeom>
          <a:solidFill>
            <a:srgbClr val="F8FAFC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Cadence + quality proxies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784080" y="5596128"/>
            <a:ext cx="1920240" cy="310896"/>
          </a:xfrm>
          <a:prstGeom prst="rect">
            <a:avLst/>
          </a:prstGeom>
          <a:solidFill>
            <a:srgbClr val="F8FAFC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Workflow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48640" y="5907024"/>
            <a:ext cx="548640" cy="310896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97280" y="5907024"/>
            <a:ext cx="3017520" cy="310896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On Premise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114800" y="5907024"/>
            <a:ext cx="18288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HR, IT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943600" y="5907024"/>
            <a:ext cx="3840480" cy="310896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Constrained environments capability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784080" y="5907024"/>
            <a:ext cx="1920240" cy="310896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Workflow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4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Roadmap backlog (for alignment)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1F0FF"/>
                </a:solidFill>
                <a:latin typeface="Calibri"/>
              </a:defRPr>
            </a:pPr>
            <a:r>
              <a:t>Capture comments + confirm priority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2743200" cy="411480"/>
          </a:xfrm>
          <a:prstGeom prst="rect">
            <a:avLst/>
          </a:prstGeom>
          <a:solidFill>
            <a:srgbClr val="F0F5FA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ctr">
              <a:defRPr sz="1200" b="1">
                <a:solidFill>
                  <a:srgbClr val="142846"/>
                </a:solidFill>
                <a:latin typeface="Calibri"/>
              </a:defRPr>
            </a:pPr>
            <a:r>
              <a:t>What it is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1143000"/>
            <a:ext cx="3474720" cy="411480"/>
          </a:xfrm>
          <a:prstGeom prst="rect">
            <a:avLst/>
          </a:prstGeom>
          <a:solidFill>
            <a:srgbClr val="F0F5FA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ctr">
              <a:defRPr sz="1200" b="1">
                <a:solidFill>
                  <a:srgbClr val="142846"/>
                </a:solidFill>
                <a:latin typeface="Calibri"/>
              </a:defRPr>
            </a:pPr>
            <a:r>
              <a:t>Short description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0" y="1143000"/>
            <a:ext cx="3840480" cy="411480"/>
          </a:xfrm>
          <a:prstGeom prst="rect">
            <a:avLst/>
          </a:prstGeom>
          <a:solidFill>
            <a:srgbClr val="F0F5FA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ctr">
              <a:defRPr sz="1200" b="1">
                <a:solidFill>
                  <a:srgbClr val="142846"/>
                </a:solidFill>
                <a:latin typeface="Calibri"/>
              </a:defRPr>
            </a:pPr>
            <a:r>
              <a:t>Meeting comments / takeaways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07040" y="1143000"/>
            <a:ext cx="1097280" cy="411480"/>
          </a:xfrm>
          <a:prstGeom prst="rect">
            <a:avLst/>
          </a:prstGeom>
          <a:solidFill>
            <a:srgbClr val="F0F5FA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ctr">
              <a:defRPr sz="1200" b="1">
                <a:solidFill>
                  <a:srgbClr val="142846"/>
                </a:solidFill>
                <a:latin typeface="Calibri"/>
              </a:defRPr>
            </a:pPr>
            <a:r>
              <a:t>Priority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27432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Daily People Pulse (DPP)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554480"/>
            <a:ext cx="34747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Daily narrative + radars; email-ready outputs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1554480"/>
            <a:ext cx="38404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607040" y="1554480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P0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920240"/>
            <a:ext cx="2743200" cy="365760"/>
          </a:xfrm>
          <a:prstGeom prst="rect">
            <a:avLst/>
          </a:prstGeom>
          <a:solidFill>
            <a:srgbClr val="F8FAFC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Bubble Report Generator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920240"/>
            <a:ext cx="3474720" cy="365760"/>
          </a:xfrm>
          <a:prstGeom prst="rect">
            <a:avLst/>
          </a:prstGeom>
          <a:solidFill>
            <a:srgbClr val="F8FAFC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Dept risk/health view; focus HR/Ops 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0" y="1920240"/>
            <a:ext cx="38404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607040" y="1920240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P0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286000"/>
            <a:ext cx="27432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ORBIT Workload Lens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2286000"/>
            <a:ext cx="34747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Where Local HR time goes + ORBIT impact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0" y="2286000"/>
            <a:ext cx="38404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607040" y="2286000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P0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651760"/>
            <a:ext cx="2743200" cy="365760"/>
          </a:xfrm>
          <a:prstGeom prst="rect">
            <a:avLst/>
          </a:prstGeom>
          <a:solidFill>
            <a:srgbClr val="F8FAFC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TMDM Paycode Reconciler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2651760"/>
            <a:ext cx="3474720" cy="365760"/>
          </a:xfrm>
          <a:prstGeom prst="rect">
            <a:avLst/>
          </a:prstGeom>
          <a:solidFill>
            <a:srgbClr val="F8FAFC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Exception list for paycode mismatches / pay risk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0" y="2651760"/>
            <a:ext cx="38404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607040" y="2651760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P1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017520"/>
            <a:ext cx="27432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Timesheet Approvals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3017520"/>
            <a:ext cx="34747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At-risk approvals + nudges before deadline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6560" y="3017520"/>
            <a:ext cx="38404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607040" y="3017520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P1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383280"/>
            <a:ext cx="2743200" cy="365760"/>
          </a:xfrm>
          <a:prstGeom prst="rect">
            <a:avLst/>
          </a:prstGeom>
          <a:solidFill>
            <a:srgbClr val="F8FAFC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LOA Pulse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91840" y="3383280"/>
            <a:ext cx="3474720" cy="365760"/>
          </a:xfrm>
          <a:prstGeom prst="rect">
            <a:avLst/>
          </a:prstGeom>
          <a:solidFill>
            <a:srgbClr val="F8FAFC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RTW checklist + gap surfacing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66560" y="3383280"/>
            <a:ext cx="38404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0607040" y="3383280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P1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749040"/>
            <a:ext cx="27432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CAT Insights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91840" y="3749040"/>
            <a:ext cx="34747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CAT patterns/hotspots integrated into ORBIT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66560" y="3749040"/>
            <a:ext cx="38404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607040" y="3749040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P2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114800"/>
            <a:ext cx="2743200" cy="365760"/>
          </a:xfrm>
          <a:prstGeom prst="rect">
            <a:avLst/>
          </a:prstGeom>
          <a:solidFill>
            <a:srgbClr val="F8FAFC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VOC Insights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91840" y="4114800"/>
            <a:ext cx="3474720" cy="365760"/>
          </a:xfrm>
          <a:prstGeom prst="rect">
            <a:avLst/>
          </a:prstGeom>
          <a:solidFill>
            <a:srgbClr val="F8FAFC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Theme extraction → actions; reduce false alerts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66560" y="4114800"/>
            <a:ext cx="38404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0607040" y="4114800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P2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480560"/>
            <a:ext cx="27432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ECHO Pulse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91840" y="4480560"/>
            <a:ext cx="34747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ECHO outcomes → site narratives + actions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66560" y="4480560"/>
            <a:ext cx="38404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0607040" y="4480560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P2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4846320"/>
            <a:ext cx="2743200" cy="365760"/>
          </a:xfrm>
          <a:prstGeom prst="rect">
            <a:avLst/>
          </a:prstGeom>
          <a:solidFill>
            <a:srgbClr val="F8FAFC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General Announcements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91840" y="4846320"/>
            <a:ext cx="3474720" cy="365760"/>
          </a:xfrm>
          <a:prstGeom prst="rect">
            <a:avLst/>
          </a:prstGeom>
          <a:solidFill>
            <a:srgbClr val="F8FAFC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Targeted HR/Ops announcements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766560" y="4846320"/>
            <a:ext cx="38404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0607040" y="4846320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P3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5212080"/>
            <a:ext cx="27432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Smart VET/VTO Automation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91840" y="5212080"/>
            <a:ext cx="34747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Proactive staffing guidance + analytics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66560" y="5212080"/>
            <a:ext cx="38404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10607040" y="5212080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P3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5577840"/>
            <a:ext cx="2743200" cy="365760"/>
          </a:xfrm>
          <a:prstGeom prst="rect">
            <a:avLst/>
          </a:prstGeom>
          <a:solidFill>
            <a:srgbClr val="F8FAFC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FMLA Hours Audit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91840" y="5577840"/>
            <a:ext cx="3474720" cy="365760"/>
          </a:xfrm>
          <a:prstGeom prst="rect">
            <a:avLst/>
          </a:prstGeom>
          <a:solidFill>
            <a:srgbClr val="F8FAFC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Compliance audit views + exceptions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66560" y="5577840"/>
            <a:ext cx="38404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10607040" y="5577840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54864" bIns="27432" rtlCol="0" anchor="ctr"/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P3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4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Decisions +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1F0FF"/>
                </a:solidFill>
                <a:latin typeface="Calibri"/>
              </a:defRPr>
            </a:pPr>
            <a:r>
              <a:t>What we need from this meeting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557784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Confirm the prioritized backlog (P0/P1/P2) for 2026 delivery.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Align on the API path + engineering ownership to meet data freshness standards.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Confirm validation criteria (DPP + Bubble) and the Rx → FC rollout sequence.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Agree on standard work integration approach (SOP mapping + deep links).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Partner with HR Analytics to validate ROI assumptions and publish recurring readouts.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" y="3163824"/>
            <a:ext cx="4937760" cy="2011680"/>
          </a:xfrm>
          <a:prstGeom prst="roundRect">
            <a:avLst/>
          </a:prstGeom>
          <a:solidFill>
            <a:srgbClr val="F5F8FC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42846"/>
                </a:solidFill>
                <a:latin typeface="Calibri"/>
              </a:defRPr>
            </a:pPr>
            <a:r>
              <a:rPr dirty="0"/>
              <a:t>Demo plan (today)</a:t>
            </a:r>
          </a:p>
          <a:p>
            <a:pPr lvl="1">
              <a:defRPr sz="1400">
                <a:solidFill>
                  <a:srgbClr val="222222"/>
                </a:solidFill>
                <a:latin typeface="Calibri"/>
              </a:defRPr>
            </a:pPr>
            <a:r>
              <a:rPr dirty="0"/>
              <a:t>Show Phoenix ORBIT Agent</a:t>
            </a:r>
          </a:p>
          <a:p>
            <a:pPr lvl="1">
              <a:defRPr sz="1400">
                <a:solidFill>
                  <a:srgbClr val="222222"/>
                </a:solidFill>
                <a:latin typeface="Calibri"/>
              </a:defRPr>
            </a:pPr>
            <a:r>
              <a:rPr dirty="0"/>
              <a:t>Run Daily People Pulse</a:t>
            </a:r>
          </a:p>
          <a:p>
            <a:pPr lvl="1">
              <a:defRPr sz="1400">
                <a:solidFill>
                  <a:srgbClr val="222222"/>
                </a:solidFill>
                <a:latin typeface="Calibri"/>
              </a:defRPr>
            </a:pPr>
            <a:r>
              <a:rPr dirty="0"/>
              <a:t>Preview Slack + scheduled email outputs</a:t>
            </a:r>
          </a:p>
          <a:p>
            <a:pPr lvl="1">
              <a:defRPr sz="1400">
                <a:solidFill>
                  <a:srgbClr val="222222"/>
                </a:solidFill>
                <a:latin typeface="Calibri"/>
              </a:defRPr>
            </a:pPr>
            <a:r>
              <a:rPr dirty="0"/>
              <a:t>Review roadmap table &amp; capture comments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660</Words>
  <Application>Microsoft Office PowerPoint</Application>
  <PresentationFormat>Widescreen</PresentationFormat>
  <Paragraphs>156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Kenny Wallace</dc:creator>
  <cp:keywords/>
  <dc:description>generated using python-pptx</dc:description>
  <cp:lastModifiedBy>Kenny Wallace</cp:lastModifiedBy>
  <cp:revision>2</cp:revision>
  <dcterms:created xsi:type="dcterms:W3CDTF">2013-01-27T09:14:16Z</dcterms:created>
  <dcterms:modified xsi:type="dcterms:W3CDTF">2026-02-16T21:32:34Z</dcterms:modified>
  <cp:category/>
</cp:coreProperties>
</file>